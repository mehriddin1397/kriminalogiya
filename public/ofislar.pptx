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05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58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B5C5D1-8E55-497C-B06A-596123B73D5B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915C4-2F53-4318-A949-962110DAFD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754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8729d97241_0_10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2713" y="746125"/>
            <a:ext cx="6632575" cy="3730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8729d97241_0_1042:notes"/>
          <p:cNvSpPr txBox="1">
            <a:spLocks noGrp="1"/>
          </p:cNvSpPr>
          <p:nvPr>
            <p:ph type="body" idx="1"/>
          </p:nvPr>
        </p:nvSpPr>
        <p:spPr>
          <a:xfrm>
            <a:off x="685802" y="4724207"/>
            <a:ext cx="5486400" cy="4475560"/>
          </a:xfrm>
          <a:prstGeom prst="rect">
            <a:avLst/>
          </a:prstGeom>
        </p:spPr>
        <p:txBody>
          <a:bodyPr spcFirstLastPara="1" wrap="square" lIns="95974" tIns="95974" rIns="95974" bIns="95974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4510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73850A-C5FB-D55A-FE97-969A7AE20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C372261-933B-DF7E-8803-C5C828CEB7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B7C892-57D5-6B80-BA03-13DE72059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52DA-A4E9-4266-BF63-82074432CFBF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298F71-048B-29A7-8EF0-D7F40B95D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C2C583-3506-68A4-966F-B399A6854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3CBE-675B-49A5-AEF3-C57310D04C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739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4D384C-D5E5-11DB-8D12-9533F2B1C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0B7FFA-0DF8-F786-6161-9DF62E2AE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3CB7C8-300F-5CC6-B7B4-97019D449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52DA-A4E9-4266-BF63-82074432CFBF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65A2A6-896E-B1C3-FAD6-FC209A3E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781810-9063-CE83-A547-B524FB43A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3CBE-675B-49A5-AEF3-C57310D04C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9456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08E49F-2C8B-B6D1-F524-E7788F530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98F764-0861-4F38-898F-A5D8C4BF2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B87FDC-6E8B-C12F-819C-BD295C4B2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52DA-A4E9-4266-BF63-82074432CFBF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6CE66E-0F04-5814-55A1-172E0587B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1EDADB-1B87-A429-3C6A-8E00D6967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3CBE-675B-49A5-AEF3-C57310D04C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1054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D1853B-1253-AD55-7F23-AAAC0AD2B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7E1D80-D5E0-D6C9-FF19-F181F9A10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0AD2E1B-AD9B-671F-B6EF-EB37B43E8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20C12B-A0BF-FB12-842D-93EF43BC8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52DA-A4E9-4266-BF63-82074432CFBF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281450-78E7-7B2D-60F0-75B2B545F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55AE48-D913-074B-DB9D-CF94DFE41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3CBE-675B-49A5-AEF3-C57310D04C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113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1F6CE-D380-2C00-9D3F-100B286C6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08B7EB-687D-E7CD-5E09-115C0E5DE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F9901F1-A0C9-5960-9A46-835E308BA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CDA4F47-BA91-DEA6-0483-A76115F63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BCE7BCF-EA07-8AFB-DFF8-2A5679A306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DAF9928-A254-61B0-0D0F-1F150596E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52DA-A4E9-4266-BF63-82074432CFBF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457A36A-FCF1-8422-612E-FD5CAEC9B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8C94446-2672-D9FA-32B9-A85D0F7A3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3CBE-675B-49A5-AEF3-C57310D04C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04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E5D3F3-F09A-AE40-23EF-1C17806A5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1FE0582-B16A-6985-CFC2-BD86F0735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52DA-A4E9-4266-BF63-82074432CFBF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4482EFC-608A-9DE1-777F-9151CFB54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40298BC-F1DB-BD51-66DD-39549B512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3CBE-675B-49A5-AEF3-C57310D04C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5019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9D78046-D625-931A-B696-32ADC57C7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52DA-A4E9-4266-BF63-82074432CFBF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DA1CA34-8E88-6888-4D0B-6297765A0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C1F03B-3CFB-5591-91AA-B10F8796B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3CBE-675B-49A5-AEF3-C57310D04C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4292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5460B1-09DB-9599-B0BC-BAAA3FD2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4CFA36-41D5-8C17-EF87-7DFD05E86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3E73E33-DDFC-3491-1962-C5136B940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50777D-4617-2CA7-5D3C-AB1FF776B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52DA-A4E9-4266-BF63-82074432CFBF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1E7042-BA88-46FF-B0AA-43ADF3E63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E3EF5E-E993-7C58-C243-8B13EBC1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3CBE-675B-49A5-AEF3-C57310D04C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93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EC47A-2F53-F625-4BC8-6D45AFE39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0CABDF0-ADB9-E71A-BDA4-E78C0AB8A6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F5DA936-0B69-4651-C543-084CF90DF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50F8B8-91A7-FDC7-A828-123B4ABD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52DA-A4E9-4266-BF63-82074432CFBF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704A6-102F-3C6D-4427-1F0FD7BFA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CC9B192-22E1-3B7A-F03F-ED8A6870F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3CBE-675B-49A5-AEF3-C57310D04C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6185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CB05E-BEDB-A3BE-E74F-8A3072491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232EC0E-6018-156B-AB97-CEED6CF04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CABDC3-E963-B595-EA66-8190E1713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52DA-A4E9-4266-BF63-82074432CFBF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736B93-150C-401E-BF30-4B7956647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866595-306C-3965-8FE9-25793EAA1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3CBE-675B-49A5-AEF3-C57310D04C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8204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C25F565-92CA-A846-32F0-7AAABDD852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842F4FC-D0B5-2CA9-7F67-14A4122CB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3836C1-B61E-F040-B5B6-E415E552E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52DA-A4E9-4266-BF63-82074432CFBF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CF9750-B2C4-AF66-B7C1-F5C654B11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280A52-BE18-C2E9-43B3-C6D12911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3CBE-675B-49A5-AEF3-C57310D04C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215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F2BDA7-178A-69AE-A665-712F8B377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5DADE2-91E0-EA10-C2FD-E804497A8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2FAE12-E2B0-697B-518B-660B4CC90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552DA-A4E9-4266-BF63-82074432CFBF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3016FA-C498-DC1B-F0DF-9DBD0D4BE2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E266A9-F91B-5BBA-6350-8148242D9A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33CBE-675B-49A5-AEF3-C57310D04C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931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Прямая соединительная линия 147">
            <a:extLst>
              <a:ext uri="{FF2B5EF4-FFF2-40B4-BE49-F238E27FC236}">
                <a16:creationId xmlns:a16="http://schemas.microsoft.com/office/drawing/2014/main" id="{5DACC954-5001-45BF-85DD-7872936AC0DA}"/>
              </a:ext>
            </a:extLst>
          </p:cNvPr>
          <p:cNvCxnSpPr>
            <a:cxnSpLocks/>
          </p:cNvCxnSpPr>
          <p:nvPr/>
        </p:nvCxnSpPr>
        <p:spPr>
          <a:xfrm flipH="1">
            <a:off x="11239495" y="2359565"/>
            <a:ext cx="685530" cy="942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4" name="Прямая соединительная линия 123">
            <a:extLst>
              <a:ext uri="{FF2B5EF4-FFF2-40B4-BE49-F238E27FC236}">
                <a16:creationId xmlns:a16="http://schemas.microsoft.com/office/drawing/2014/main" id="{BD711755-59C2-485D-AA60-EE63AA9C3C3E}"/>
              </a:ext>
            </a:extLst>
          </p:cNvPr>
          <p:cNvCxnSpPr>
            <a:cxnSpLocks/>
          </p:cNvCxnSpPr>
          <p:nvPr/>
        </p:nvCxnSpPr>
        <p:spPr>
          <a:xfrm flipH="1">
            <a:off x="10998193" y="2890647"/>
            <a:ext cx="92820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9" name="Прямая соединительная линия 108">
            <a:extLst>
              <a:ext uri="{FF2B5EF4-FFF2-40B4-BE49-F238E27FC236}">
                <a16:creationId xmlns:a16="http://schemas.microsoft.com/office/drawing/2014/main" id="{20B8FC3A-1096-40A2-A550-160E0E660B4D}"/>
              </a:ext>
            </a:extLst>
          </p:cNvPr>
          <p:cNvCxnSpPr>
            <a:cxnSpLocks/>
          </p:cNvCxnSpPr>
          <p:nvPr/>
        </p:nvCxnSpPr>
        <p:spPr>
          <a:xfrm flipH="1">
            <a:off x="7628227" y="720852"/>
            <a:ext cx="19471" cy="136810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56" name="Google Shape;1256;p41"/>
          <p:cNvSpPr/>
          <p:nvPr/>
        </p:nvSpPr>
        <p:spPr>
          <a:xfrm>
            <a:off x="4741948" y="44140"/>
            <a:ext cx="2845064" cy="3474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A605663B-C425-43A8-9BD4-89997A30A658}"/>
              </a:ext>
            </a:extLst>
          </p:cNvPr>
          <p:cNvCxnSpPr>
            <a:cxnSpLocks/>
          </p:cNvCxnSpPr>
          <p:nvPr/>
        </p:nvCxnSpPr>
        <p:spPr>
          <a:xfrm flipH="1" flipV="1">
            <a:off x="1634301" y="427094"/>
            <a:ext cx="9697455" cy="338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2EA3FCD8-B691-4AD3-8598-49EB46048A38}"/>
              </a:ext>
            </a:extLst>
          </p:cNvPr>
          <p:cNvCxnSpPr>
            <a:cxnSpLocks/>
            <a:stCxn id="62" idx="0"/>
          </p:cNvCxnSpPr>
          <p:nvPr/>
        </p:nvCxnSpPr>
        <p:spPr>
          <a:xfrm flipH="1">
            <a:off x="4716081" y="605537"/>
            <a:ext cx="11908" cy="533630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2" name="Google Shape;1256;p41">
            <a:extLst>
              <a:ext uri="{FF2B5EF4-FFF2-40B4-BE49-F238E27FC236}">
                <a16:creationId xmlns:a16="http://schemas.microsoft.com/office/drawing/2014/main" id="{34A3CEDB-CC36-4C13-BA67-053AB69073CB}"/>
              </a:ext>
            </a:extLst>
          </p:cNvPr>
          <p:cNvSpPr/>
          <p:nvPr/>
        </p:nvSpPr>
        <p:spPr>
          <a:xfrm>
            <a:off x="3347915" y="605537"/>
            <a:ext cx="2760147" cy="98514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0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5" name="Google Shape;1256;p41">
            <a:extLst>
              <a:ext uri="{FF2B5EF4-FFF2-40B4-BE49-F238E27FC236}">
                <a16:creationId xmlns:a16="http://schemas.microsoft.com/office/drawing/2014/main" id="{11E93C4F-B844-4873-9427-0BA15AC7D67C}"/>
              </a:ext>
            </a:extLst>
          </p:cNvPr>
          <p:cNvSpPr/>
          <p:nvPr/>
        </p:nvSpPr>
        <p:spPr>
          <a:xfrm>
            <a:off x="6322878" y="666183"/>
            <a:ext cx="2760147" cy="756067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Маҳалла жиноятчилигини илмий тадқиқ қилиш маркази </a:t>
            </a:r>
            <a:r>
              <a:rPr kumimoji="0" lang="uz-Cyrl-UZ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бошлиғи</a:t>
            </a:r>
            <a:r>
              <a:rPr kumimoji="0" lang="uz-Cyrl-UZ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8" name="Google Shape;1256;p41">
            <a:extLst>
              <a:ext uri="{FF2B5EF4-FFF2-40B4-BE49-F238E27FC236}">
                <a16:creationId xmlns:a16="http://schemas.microsoft.com/office/drawing/2014/main" id="{47B52A9A-D3FD-47DE-896B-8C61069F7C33}"/>
              </a:ext>
            </a:extLst>
          </p:cNvPr>
          <p:cNvSpPr/>
          <p:nvPr/>
        </p:nvSpPr>
        <p:spPr>
          <a:xfrm>
            <a:off x="229803" y="552316"/>
            <a:ext cx="2760147" cy="98514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9" name="Google Shape;1256;p41">
            <a:extLst>
              <a:ext uri="{FF2B5EF4-FFF2-40B4-BE49-F238E27FC236}">
                <a16:creationId xmlns:a16="http://schemas.microsoft.com/office/drawing/2014/main" id="{7DB36E8A-79C3-4971-860D-DEDE0F50F01B}"/>
              </a:ext>
            </a:extLst>
          </p:cNvPr>
          <p:cNvSpPr/>
          <p:nvPr/>
        </p:nvSpPr>
        <p:spPr>
          <a:xfrm>
            <a:off x="3335215" y="1686630"/>
            <a:ext cx="2760147" cy="724000"/>
          </a:xfrm>
          <a:prstGeom prst="rect">
            <a:avLst/>
          </a:prstGeom>
          <a:ln w="9525"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1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F292C35-6997-4C95-938B-B2C7C02FB3D6}"/>
              </a:ext>
            </a:extLst>
          </p:cNvPr>
          <p:cNvSpPr/>
          <p:nvPr/>
        </p:nvSpPr>
        <p:spPr>
          <a:xfrm>
            <a:off x="3347915" y="1663875"/>
            <a:ext cx="276014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Европа ва бошқа хорижий давлатлар жиноятчилигини тадқиқ қилиш сектори </a:t>
            </a:r>
            <a:br>
              <a:rPr kumimoji="0" lang="uz-Cyrl-UZ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</a:br>
            <a:endParaRPr kumimoji="0" lang="ru-RU" sz="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D9108922-4633-4EB5-9CC3-44DA6AF6D3F6}"/>
              </a:ext>
            </a:extLst>
          </p:cNvPr>
          <p:cNvSpPr/>
          <p:nvPr/>
        </p:nvSpPr>
        <p:spPr>
          <a:xfrm>
            <a:off x="3359635" y="2421086"/>
            <a:ext cx="276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Ижтимоий таранглик ҳолатларни тадқиқ қилиш ва оммавий ахборот воситалари билан алоқалар офиси</a:t>
            </a:r>
            <a:endParaRPr kumimoji="0" lang="uz-Cyrl-UZ" sz="9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7" name="Google Shape;1256;p41">
            <a:extLst>
              <a:ext uri="{FF2B5EF4-FFF2-40B4-BE49-F238E27FC236}">
                <a16:creationId xmlns:a16="http://schemas.microsoft.com/office/drawing/2014/main" id="{E81BF20C-D9C3-4A1B-9014-D23C0A3DAE7C}"/>
              </a:ext>
            </a:extLst>
          </p:cNvPr>
          <p:cNvSpPr/>
          <p:nvPr/>
        </p:nvSpPr>
        <p:spPr>
          <a:xfrm>
            <a:off x="3333448" y="3123327"/>
            <a:ext cx="2760147" cy="540564"/>
          </a:xfrm>
          <a:prstGeom prst="rect">
            <a:avLst/>
          </a:prstGeom>
          <a:ln w="9525"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1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B9083E66-F0BA-497C-82B3-6E778C8883D1}"/>
              </a:ext>
            </a:extLst>
          </p:cNvPr>
          <p:cNvSpPr/>
          <p:nvPr/>
        </p:nvSpPr>
        <p:spPr>
          <a:xfrm>
            <a:off x="3369526" y="3066479"/>
            <a:ext cx="276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Соҳавий хизматлар муаммоларини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тадқиқ қилиш офиси</a:t>
            </a:r>
            <a:endParaRPr kumimoji="0" lang="uz-Cyrl-UZ" sz="9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14F65193-3A35-4AE6-9AEC-D6683FF0CA71}"/>
              </a:ext>
            </a:extLst>
          </p:cNvPr>
          <p:cNvSpPr/>
          <p:nvPr/>
        </p:nvSpPr>
        <p:spPr>
          <a:xfrm>
            <a:off x="3347915" y="3634949"/>
            <a:ext cx="276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Алоҳида тоифадаги шахслар жиноятчилигини тадқиқ қилиш офиси </a:t>
            </a:r>
            <a:endParaRPr kumimoji="0" lang="uz-Cyrl-UZ" sz="9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FCAADB6B-9D04-40F6-B799-41EB1B10489C}"/>
              </a:ext>
            </a:extLst>
          </p:cNvPr>
          <p:cNvSpPr/>
          <p:nvPr/>
        </p:nvSpPr>
        <p:spPr>
          <a:xfrm>
            <a:off x="320174" y="4660959"/>
            <a:ext cx="276014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Шахсга қарши жиноятларни тадқиқ қилиш офиси</a:t>
            </a:r>
            <a:endParaRPr kumimoji="0" lang="uz-Cyrl-UZ" sz="105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7" name="Google Shape;1256;p41">
            <a:extLst>
              <a:ext uri="{FF2B5EF4-FFF2-40B4-BE49-F238E27FC236}">
                <a16:creationId xmlns:a16="http://schemas.microsoft.com/office/drawing/2014/main" id="{3EF8006B-B82F-4AAE-B7A2-76A4993C83EE}"/>
              </a:ext>
            </a:extLst>
          </p:cNvPr>
          <p:cNvSpPr/>
          <p:nvPr/>
        </p:nvSpPr>
        <p:spPr>
          <a:xfrm>
            <a:off x="236689" y="1627709"/>
            <a:ext cx="2760147" cy="681944"/>
          </a:xfrm>
          <a:prstGeom prst="rect">
            <a:avLst/>
          </a:prstGeom>
          <a:ln w="9525"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1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23E1325C-8AAB-4A21-8C77-BFA7CA76EF00}"/>
              </a:ext>
            </a:extLst>
          </p:cNvPr>
          <p:cNvSpPr/>
          <p:nvPr/>
        </p:nvSpPr>
        <p:spPr>
          <a:xfrm>
            <a:off x="244709" y="1594694"/>
            <a:ext cx="276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МДҲ ва Осиё давлатлари жиноятчилигини тадқиқ қилиш сектори </a:t>
            </a:r>
          </a:p>
        </p:txBody>
      </p:sp>
      <p:sp>
        <p:nvSpPr>
          <p:cNvPr id="90" name="Google Shape;1256;p41">
            <a:extLst>
              <a:ext uri="{FF2B5EF4-FFF2-40B4-BE49-F238E27FC236}">
                <a16:creationId xmlns:a16="http://schemas.microsoft.com/office/drawing/2014/main" id="{8935E272-3C80-4146-B910-DB8C36362664}"/>
              </a:ext>
            </a:extLst>
          </p:cNvPr>
          <p:cNvSpPr/>
          <p:nvPr/>
        </p:nvSpPr>
        <p:spPr>
          <a:xfrm>
            <a:off x="241731" y="2408464"/>
            <a:ext cx="2760147" cy="681944"/>
          </a:xfrm>
          <a:prstGeom prst="rect">
            <a:avLst/>
          </a:prstGeom>
          <a:ln w="9525"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1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E7866A60-1B4C-4EC0-8164-94B585A5196E}"/>
              </a:ext>
            </a:extLst>
          </p:cNvPr>
          <p:cNvSpPr/>
          <p:nvPr/>
        </p:nvSpPr>
        <p:spPr>
          <a:xfrm>
            <a:off x="241731" y="2361178"/>
            <a:ext cx="276014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Иқтисодиёт соҳасидаги  жиноятларни тадқиқ қилиш офиси </a:t>
            </a:r>
            <a:endParaRPr kumimoji="0" lang="uz-Cyrl-UZ" sz="10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3" name="Google Shape;1256;p41">
            <a:extLst>
              <a:ext uri="{FF2B5EF4-FFF2-40B4-BE49-F238E27FC236}">
                <a16:creationId xmlns:a16="http://schemas.microsoft.com/office/drawing/2014/main" id="{142DB542-19D1-4E00-8A40-F7491823F027}"/>
              </a:ext>
            </a:extLst>
          </p:cNvPr>
          <p:cNvSpPr/>
          <p:nvPr/>
        </p:nvSpPr>
        <p:spPr>
          <a:xfrm>
            <a:off x="241731" y="3183164"/>
            <a:ext cx="2760147" cy="681944"/>
          </a:xfrm>
          <a:prstGeom prst="rect">
            <a:avLst/>
          </a:prstGeom>
          <a:ln w="9525"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1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B287DC92-FE70-4C67-ADF0-BF235B1896CD}"/>
              </a:ext>
            </a:extLst>
          </p:cNvPr>
          <p:cNvSpPr/>
          <p:nvPr/>
        </p:nvSpPr>
        <p:spPr>
          <a:xfrm>
            <a:off x="233618" y="3145553"/>
            <a:ext cx="276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Ахборот технологиялари ёрдамида содир этилган жиноятчиликни тадқиқ қилиш офиси </a:t>
            </a:r>
            <a:endParaRPr kumimoji="0" lang="uz-Cyrl-UZ" sz="9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6" name="Google Shape;1256;p41">
            <a:extLst>
              <a:ext uri="{FF2B5EF4-FFF2-40B4-BE49-F238E27FC236}">
                <a16:creationId xmlns:a16="http://schemas.microsoft.com/office/drawing/2014/main" id="{28804121-58FC-4F57-80F1-03DEAAE77957}"/>
              </a:ext>
            </a:extLst>
          </p:cNvPr>
          <p:cNvSpPr/>
          <p:nvPr/>
        </p:nvSpPr>
        <p:spPr>
          <a:xfrm>
            <a:off x="221533" y="3836063"/>
            <a:ext cx="2760147" cy="681944"/>
          </a:xfrm>
          <a:prstGeom prst="rect">
            <a:avLst/>
          </a:prstGeom>
          <a:ln w="9525"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1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361D5642-9F27-4EC3-A038-0CDDA8206A05}"/>
              </a:ext>
            </a:extLst>
          </p:cNvPr>
          <p:cNvSpPr/>
          <p:nvPr/>
        </p:nvSpPr>
        <p:spPr>
          <a:xfrm>
            <a:off x="289854" y="3892757"/>
            <a:ext cx="276014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Жамоат хавфсизлиги ва жамоат тартибига қарши жиноятларни тадқиқ қилиш офиси </a:t>
            </a:r>
            <a:endParaRPr kumimoji="0" lang="uz-Cyrl-UZ" sz="10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9" name="Google Shape;1256;p41">
            <a:extLst>
              <a:ext uri="{FF2B5EF4-FFF2-40B4-BE49-F238E27FC236}">
                <a16:creationId xmlns:a16="http://schemas.microsoft.com/office/drawing/2014/main" id="{DE92FE25-72D9-4193-A19B-67A65836C592}"/>
              </a:ext>
            </a:extLst>
          </p:cNvPr>
          <p:cNvSpPr/>
          <p:nvPr/>
        </p:nvSpPr>
        <p:spPr>
          <a:xfrm>
            <a:off x="3335215" y="5863350"/>
            <a:ext cx="2760147" cy="438178"/>
          </a:xfrm>
          <a:prstGeom prst="rect">
            <a:avLst/>
          </a:prstGeom>
          <a:ln w="9525"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1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346DAE6C-C0F2-4ED0-908E-21CC27F60683}"/>
              </a:ext>
            </a:extLst>
          </p:cNvPr>
          <p:cNvSpPr/>
          <p:nvPr/>
        </p:nvSpPr>
        <p:spPr>
          <a:xfrm>
            <a:off x="3318271" y="5819444"/>
            <a:ext cx="276014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Социологик тадқиқотларни ўтказиш офиси </a:t>
            </a:r>
            <a:endParaRPr kumimoji="0" lang="uz-Cyrl-UZ" sz="10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2" name="Google Shape;1256;p41">
            <a:extLst>
              <a:ext uri="{FF2B5EF4-FFF2-40B4-BE49-F238E27FC236}">
                <a16:creationId xmlns:a16="http://schemas.microsoft.com/office/drawing/2014/main" id="{371CE859-87AE-48FC-BDEA-9C1885960A73}"/>
              </a:ext>
            </a:extLst>
          </p:cNvPr>
          <p:cNvSpPr/>
          <p:nvPr/>
        </p:nvSpPr>
        <p:spPr>
          <a:xfrm>
            <a:off x="3330653" y="4430252"/>
            <a:ext cx="2760147" cy="612887"/>
          </a:xfrm>
          <a:prstGeom prst="rect">
            <a:avLst/>
          </a:prstGeom>
          <a:ln w="9525"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1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B401D27F-2904-4BE8-9722-5230DA668267}"/>
              </a:ext>
            </a:extLst>
          </p:cNvPr>
          <p:cNvSpPr/>
          <p:nvPr/>
        </p:nvSpPr>
        <p:spPr>
          <a:xfrm>
            <a:off x="3366031" y="4369314"/>
            <a:ext cx="276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Ахборот-таҳлил ва тадқиқот лойиҳаларини мувофиқлаштириш офиси </a:t>
            </a:r>
            <a:endParaRPr kumimoji="0" lang="uz-Cyrl-UZ" sz="9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05" name="Прямая соединительная линия 104">
            <a:extLst>
              <a:ext uri="{FF2B5EF4-FFF2-40B4-BE49-F238E27FC236}">
                <a16:creationId xmlns:a16="http://schemas.microsoft.com/office/drawing/2014/main" id="{81C27A93-6C19-4ADA-966D-014C01E44F94}"/>
              </a:ext>
            </a:extLst>
          </p:cNvPr>
          <p:cNvCxnSpPr>
            <a:cxnSpLocks/>
          </p:cNvCxnSpPr>
          <p:nvPr/>
        </p:nvCxnSpPr>
        <p:spPr>
          <a:xfrm>
            <a:off x="4803833" y="400280"/>
            <a:ext cx="1" cy="170428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6" name="Прямая соединительная линия 105">
            <a:extLst>
              <a:ext uri="{FF2B5EF4-FFF2-40B4-BE49-F238E27FC236}">
                <a16:creationId xmlns:a16="http://schemas.microsoft.com/office/drawing/2014/main" id="{D4334E1C-F7C5-4E6C-A729-AE35D63E7443}"/>
              </a:ext>
            </a:extLst>
          </p:cNvPr>
          <p:cNvCxnSpPr>
            <a:cxnSpLocks/>
          </p:cNvCxnSpPr>
          <p:nvPr/>
        </p:nvCxnSpPr>
        <p:spPr>
          <a:xfrm>
            <a:off x="1642791" y="431831"/>
            <a:ext cx="0" cy="152314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7" name="Прямая соединительная линия 106">
            <a:extLst>
              <a:ext uri="{FF2B5EF4-FFF2-40B4-BE49-F238E27FC236}">
                <a16:creationId xmlns:a16="http://schemas.microsoft.com/office/drawing/2014/main" id="{52EBF696-6C46-4E89-B19C-5149FCEFF9C2}"/>
              </a:ext>
            </a:extLst>
          </p:cNvPr>
          <p:cNvCxnSpPr>
            <a:cxnSpLocks/>
          </p:cNvCxnSpPr>
          <p:nvPr/>
        </p:nvCxnSpPr>
        <p:spPr>
          <a:xfrm>
            <a:off x="7693936" y="457910"/>
            <a:ext cx="0" cy="148671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0" name="Google Shape;1256;p41">
            <a:extLst>
              <a:ext uri="{FF2B5EF4-FFF2-40B4-BE49-F238E27FC236}">
                <a16:creationId xmlns:a16="http://schemas.microsoft.com/office/drawing/2014/main" id="{96214925-9F1B-4412-BB27-EEB4F093EB34}"/>
              </a:ext>
            </a:extLst>
          </p:cNvPr>
          <p:cNvSpPr/>
          <p:nvPr/>
        </p:nvSpPr>
        <p:spPr>
          <a:xfrm>
            <a:off x="6286376" y="1483257"/>
            <a:ext cx="2760147" cy="947976"/>
          </a:xfrm>
          <a:prstGeom prst="rect">
            <a:avLst/>
          </a:prstGeom>
          <a:ln w="9525"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1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D5CD8754-20DC-4D94-B5E3-95EA4E6B78FE}"/>
              </a:ext>
            </a:extLst>
          </p:cNvPr>
          <p:cNvSpPr/>
          <p:nvPr/>
        </p:nvSpPr>
        <p:spPr>
          <a:xfrm>
            <a:off x="6307058" y="1450119"/>
            <a:ext cx="276014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Маъмурий ҳудудлар, маҳаллалар жиноятчилигини тадқиқ қилиш сектори </a:t>
            </a:r>
            <a:endParaRPr kumimoji="0" lang="uz-Cyrl-UZ" sz="10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13" name="Прямая соединительная линия 112">
            <a:extLst>
              <a:ext uri="{FF2B5EF4-FFF2-40B4-BE49-F238E27FC236}">
                <a16:creationId xmlns:a16="http://schemas.microsoft.com/office/drawing/2014/main" id="{949E8E78-1127-43B2-876E-BADB071AA49C}"/>
              </a:ext>
            </a:extLst>
          </p:cNvPr>
          <p:cNvCxnSpPr>
            <a:cxnSpLocks/>
          </p:cNvCxnSpPr>
          <p:nvPr/>
        </p:nvCxnSpPr>
        <p:spPr>
          <a:xfrm>
            <a:off x="11917153" y="1199997"/>
            <a:ext cx="24312" cy="399697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4" name="Google Shape;1256;p41">
            <a:extLst>
              <a:ext uri="{FF2B5EF4-FFF2-40B4-BE49-F238E27FC236}">
                <a16:creationId xmlns:a16="http://schemas.microsoft.com/office/drawing/2014/main" id="{4ACE038C-D024-4092-9261-BA6F01010B8D}"/>
              </a:ext>
            </a:extLst>
          </p:cNvPr>
          <p:cNvSpPr/>
          <p:nvPr/>
        </p:nvSpPr>
        <p:spPr>
          <a:xfrm>
            <a:off x="3321288" y="5440595"/>
            <a:ext cx="2772146" cy="359338"/>
          </a:xfrm>
          <a:prstGeom prst="rect">
            <a:avLst/>
          </a:prstGeom>
          <a:ln w="9525"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1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C4E89F67-950D-4BD2-AA60-FB08D49885C2}"/>
              </a:ext>
            </a:extLst>
          </p:cNvPr>
          <p:cNvSpPr/>
          <p:nvPr/>
        </p:nvSpPr>
        <p:spPr>
          <a:xfrm>
            <a:off x="3330203" y="5401685"/>
            <a:ext cx="278459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Қонунчилик ҳужжатларини тадқиқ қилиш офиси</a:t>
            </a:r>
            <a:endParaRPr kumimoji="0" lang="uz-Cyrl-UZ" sz="9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7" name="Google Shape;1256;p41">
            <a:extLst>
              <a:ext uri="{FF2B5EF4-FFF2-40B4-BE49-F238E27FC236}">
                <a16:creationId xmlns:a16="http://schemas.microsoft.com/office/drawing/2014/main" id="{5E9A9F85-6C1F-4B01-8300-F519B3D729D5}"/>
              </a:ext>
            </a:extLst>
          </p:cNvPr>
          <p:cNvSpPr/>
          <p:nvPr/>
        </p:nvSpPr>
        <p:spPr>
          <a:xfrm>
            <a:off x="10673916" y="1100091"/>
            <a:ext cx="1241860" cy="756067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Бошқарув ва таъминот</a:t>
            </a:r>
            <a:br>
              <a:rPr kumimoji="0" lang="uz-Cyrl-UZ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</a:br>
            <a:r>
              <a:rPr kumimoji="0" lang="uz-Cyrl-UZ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 бўлинмалари</a:t>
            </a:r>
          </a:p>
        </p:txBody>
      </p:sp>
      <p:cxnSp>
        <p:nvCxnSpPr>
          <p:cNvPr id="118" name="Прямая соединительная линия 117">
            <a:extLst>
              <a:ext uri="{FF2B5EF4-FFF2-40B4-BE49-F238E27FC236}">
                <a16:creationId xmlns:a16="http://schemas.microsoft.com/office/drawing/2014/main" id="{667FD972-648C-4A34-A33B-06970F552452}"/>
              </a:ext>
            </a:extLst>
          </p:cNvPr>
          <p:cNvCxnSpPr>
            <a:cxnSpLocks/>
          </p:cNvCxnSpPr>
          <p:nvPr/>
        </p:nvCxnSpPr>
        <p:spPr>
          <a:xfrm>
            <a:off x="10009736" y="465356"/>
            <a:ext cx="0" cy="537534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9" name="Google Shape;1256;p41">
            <a:extLst>
              <a:ext uri="{FF2B5EF4-FFF2-40B4-BE49-F238E27FC236}">
                <a16:creationId xmlns:a16="http://schemas.microsoft.com/office/drawing/2014/main" id="{2E4B805D-818F-4229-99EC-FA7589B01191}"/>
              </a:ext>
            </a:extLst>
          </p:cNvPr>
          <p:cNvSpPr/>
          <p:nvPr/>
        </p:nvSpPr>
        <p:spPr>
          <a:xfrm>
            <a:off x="9390179" y="2731574"/>
            <a:ext cx="2376638" cy="3522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1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E9E91B2D-2BDB-4B5E-B079-65D45F1A37BC}"/>
              </a:ext>
            </a:extLst>
          </p:cNvPr>
          <p:cNvSpPr/>
          <p:nvPr/>
        </p:nvSpPr>
        <p:spPr>
          <a:xfrm>
            <a:off x="9569522" y="2693795"/>
            <a:ext cx="189186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Юридик таъминлаш гуруҳи </a:t>
            </a:r>
          </a:p>
        </p:txBody>
      </p:sp>
      <p:cxnSp>
        <p:nvCxnSpPr>
          <p:cNvPr id="126" name="Прямая соединительная линия 125">
            <a:extLst>
              <a:ext uri="{FF2B5EF4-FFF2-40B4-BE49-F238E27FC236}">
                <a16:creationId xmlns:a16="http://schemas.microsoft.com/office/drawing/2014/main" id="{A69A53EE-529F-419B-B269-C56396D804E9}"/>
              </a:ext>
            </a:extLst>
          </p:cNvPr>
          <p:cNvCxnSpPr>
            <a:cxnSpLocks/>
          </p:cNvCxnSpPr>
          <p:nvPr/>
        </p:nvCxnSpPr>
        <p:spPr>
          <a:xfrm flipH="1">
            <a:off x="10997086" y="3385381"/>
            <a:ext cx="92820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8" name="Google Shape;1256;p41">
            <a:extLst>
              <a:ext uri="{FF2B5EF4-FFF2-40B4-BE49-F238E27FC236}">
                <a16:creationId xmlns:a16="http://schemas.microsoft.com/office/drawing/2014/main" id="{73ADE8B9-D6DA-49EA-847E-C5DC1CC191CE}"/>
              </a:ext>
            </a:extLst>
          </p:cNvPr>
          <p:cNvSpPr/>
          <p:nvPr/>
        </p:nvSpPr>
        <p:spPr>
          <a:xfrm>
            <a:off x="3333988" y="5093222"/>
            <a:ext cx="2755018" cy="300551"/>
          </a:xfrm>
          <a:prstGeom prst="rect">
            <a:avLst/>
          </a:prstGeom>
          <a:ln w="9525"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1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9" name="Прямоугольник 128">
            <a:extLst>
              <a:ext uri="{FF2B5EF4-FFF2-40B4-BE49-F238E27FC236}">
                <a16:creationId xmlns:a16="http://schemas.microsoft.com/office/drawing/2014/main" id="{3B67106B-DC8E-4591-841F-A8FD3ED01329}"/>
              </a:ext>
            </a:extLst>
          </p:cNvPr>
          <p:cNvSpPr/>
          <p:nvPr/>
        </p:nvSpPr>
        <p:spPr>
          <a:xfrm>
            <a:off x="3403901" y="5027571"/>
            <a:ext cx="275501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Халқаро рейтингларни тадқиқ этиш офиси </a:t>
            </a:r>
            <a:endParaRPr kumimoji="0" lang="uz-Cyrl-UZ" sz="10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1" name="Google Shape;1256;p41">
            <a:extLst>
              <a:ext uri="{FF2B5EF4-FFF2-40B4-BE49-F238E27FC236}">
                <a16:creationId xmlns:a16="http://schemas.microsoft.com/office/drawing/2014/main" id="{EF3E71B7-D87C-4886-A966-1559B94F0D2B}"/>
              </a:ext>
            </a:extLst>
          </p:cNvPr>
          <p:cNvSpPr/>
          <p:nvPr/>
        </p:nvSpPr>
        <p:spPr>
          <a:xfrm>
            <a:off x="9388739" y="3167637"/>
            <a:ext cx="2378078" cy="43621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1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2" name="Прямоугольник 131">
            <a:extLst>
              <a:ext uri="{FF2B5EF4-FFF2-40B4-BE49-F238E27FC236}">
                <a16:creationId xmlns:a16="http://schemas.microsoft.com/office/drawing/2014/main" id="{152AAD0C-B110-43D8-AE95-2099531CC867}"/>
              </a:ext>
            </a:extLst>
          </p:cNvPr>
          <p:cNvSpPr/>
          <p:nvPr/>
        </p:nvSpPr>
        <p:spPr>
          <a:xfrm>
            <a:off x="9515620" y="3132535"/>
            <a:ext cx="204735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Ҳалқаро ҳамкорликни ташкил этиш гуруҳи </a:t>
            </a:r>
          </a:p>
        </p:txBody>
      </p:sp>
      <p:sp>
        <p:nvSpPr>
          <p:cNvPr id="144" name="Google Shape;1256;p41">
            <a:extLst>
              <a:ext uri="{FF2B5EF4-FFF2-40B4-BE49-F238E27FC236}">
                <a16:creationId xmlns:a16="http://schemas.microsoft.com/office/drawing/2014/main" id="{4DAEFE86-0965-47C4-B672-DBC601A85452}"/>
              </a:ext>
            </a:extLst>
          </p:cNvPr>
          <p:cNvSpPr/>
          <p:nvPr/>
        </p:nvSpPr>
        <p:spPr>
          <a:xfrm>
            <a:off x="9389077" y="2062945"/>
            <a:ext cx="2376638" cy="59646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1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5" name="Прямоугольник 144">
            <a:extLst>
              <a:ext uri="{FF2B5EF4-FFF2-40B4-BE49-F238E27FC236}">
                <a16:creationId xmlns:a16="http://schemas.microsoft.com/office/drawing/2014/main" id="{D8744AB9-C27B-4ED7-BBB7-E31A8060E6F3}"/>
              </a:ext>
            </a:extLst>
          </p:cNvPr>
          <p:cNvSpPr/>
          <p:nvPr/>
        </p:nvSpPr>
        <p:spPr>
          <a:xfrm>
            <a:off x="9408134" y="2063370"/>
            <a:ext cx="237663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Ташкилий бўлим</a:t>
            </a:r>
          </a:p>
        </p:txBody>
      </p:sp>
      <p:sp>
        <p:nvSpPr>
          <p:cNvPr id="150" name="Google Shape;1256;p41">
            <a:extLst>
              <a:ext uri="{FF2B5EF4-FFF2-40B4-BE49-F238E27FC236}">
                <a16:creationId xmlns:a16="http://schemas.microsoft.com/office/drawing/2014/main" id="{F5ED6316-4450-44CB-A7A8-E8922AA719D9}"/>
              </a:ext>
            </a:extLst>
          </p:cNvPr>
          <p:cNvSpPr/>
          <p:nvPr/>
        </p:nvSpPr>
        <p:spPr>
          <a:xfrm>
            <a:off x="9397629" y="3698273"/>
            <a:ext cx="2376638" cy="59646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1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51" name="Прямоугольник 150">
            <a:extLst>
              <a:ext uri="{FF2B5EF4-FFF2-40B4-BE49-F238E27FC236}">
                <a16:creationId xmlns:a16="http://schemas.microsoft.com/office/drawing/2014/main" id="{0DFADEEB-9B4B-48FB-B8AE-AEB0C4570029}"/>
              </a:ext>
            </a:extLst>
          </p:cNvPr>
          <p:cNvSpPr/>
          <p:nvPr/>
        </p:nvSpPr>
        <p:spPr>
          <a:xfrm>
            <a:off x="9383342" y="3620620"/>
            <a:ext cx="23766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Молия ва моддий-техника таъминоти бўлими</a:t>
            </a:r>
          </a:p>
        </p:txBody>
      </p:sp>
      <p:cxnSp>
        <p:nvCxnSpPr>
          <p:cNvPr id="153" name="Прямая соединительная линия 152">
            <a:extLst>
              <a:ext uri="{FF2B5EF4-FFF2-40B4-BE49-F238E27FC236}">
                <a16:creationId xmlns:a16="http://schemas.microsoft.com/office/drawing/2014/main" id="{25440969-5907-4846-9D31-75F0A30E96D4}"/>
              </a:ext>
            </a:extLst>
          </p:cNvPr>
          <p:cNvCxnSpPr>
            <a:cxnSpLocks/>
          </p:cNvCxnSpPr>
          <p:nvPr/>
        </p:nvCxnSpPr>
        <p:spPr>
          <a:xfrm flipH="1">
            <a:off x="11208354" y="4639310"/>
            <a:ext cx="71667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4" name="Google Shape;1256;p41">
            <a:extLst>
              <a:ext uri="{FF2B5EF4-FFF2-40B4-BE49-F238E27FC236}">
                <a16:creationId xmlns:a16="http://schemas.microsoft.com/office/drawing/2014/main" id="{B36A0B44-D4B0-48F5-9B59-A964629E90CA}"/>
              </a:ext>
            </a:extLst>
          </p:cNvPr>
          <p:cNvSpPr/>
          <p:nvPr/>
        </p:nvSpPr>
        <p:spPr>
          <a:xfrm>
            <a:off x="9396040" y="4409473"/>
            <a:ext cx="2376638" cy="44736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1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FA6CB7C1-F92E-4D92-9B7D-2628564A84E0}"/>
              </a:ext>
            </a:extLst>
          </p:cNvPr>
          <p:cNvSpPr/>
          <p:nvPr/>
        </p:nvSpPr>
        <p:spPr>
          <a:xfrm>
            <a:off x="9381900" y="4377663"/>
            <a:ext cx="237663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Кадрлар гуруҳи </a:t>
            </a:r>
          </a:p>
        </p:txBody>
      </p:sp>
      <p:cxnSp>
        <p:nvCxnSpPr>
          <p:cNvPr id="157" name="Прямая соединительная линия 156">
            <a:extLst>
              <a:ext uri="{FF2B5EF4-FFF2-40B4-BE49-F238E27FC236}">
                <a16:creationId xmlns:a16="http://schemas.microsoft.com/office/drawing/2014/main" id="{58DBDF9D-0482-4715-8657-BD1D324E2FD7}"/>
              </a:ext>
            </a:extLst>
          </p:cNvPr>
          <p:cNvCxnSpPr>
            <a:cxnSpLocks/>
          </p:cNvCxnSpPr>
          <p:nvPr/>
        </p:nvCxnSpPr>
        <p:spPr>
          <a:xfrm flipH="1">
            <a:off x="11231226" y="5203030"/>
            <a:ext cx="701191" cy="778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9" name="Прямоугольник 158">
            <a:extLst>
              <a:ext uri="{FF2B5EF4-FFF2-40B4-BE49-F238E27FC236}">
                <a16:creationId xmlns:a16="http://schemas.microsoft.com/office/drawing/2014/main" id="{720BE4EC-3B7B-41A7-9F55-C8A8D92C2239}"/>
              </a:ext>
            </a:extLst>
          </p:cNvPr>
          <p:cNvSpPr/>
          <p:nvPr/>
        </p:nvSpPr>
        <p:spPr>
          <a:xfrm>
            <a:off x="9415810" y="5026162"/>
            <a:ext cx="2352990" cy="40011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Илмий фаолиятга рақамли ва ахборот технологияларини жорий этиш гуруҳи</a:t>
            </a:r>
          </a:p>
        </p:txBody>
      </p:sp>
      <p:cxnSp>
        <p:nvCxnSpPr>
          <p:cNvPr id="161" name="Прямая соединительная линия 160">
            <a:extLst>
              <a:ext uri="{FF2B5EF4-FFF2-40B4-BE49-F238E27FC236}">
                <a16:creationId xmlns:a16="http://schemas.microsoft.com/office/drawing/2014/main" id="{7B380AF7-A9BB-4DF2-A243-081AB6C85B6E}"/>
              </a:ext>
            </a:extLst>
          </p:cNvPr>
          <p:cNvCxnSpPr>
            <a:cxnSpLocks/>
          </p:cNvCxnSpPr>
          <p:nvPr/>
        </p:nvCxnSpPr>
        <p:spPr>
          <a:xfrm flipH="1">
            <a:off x="8592113" y="4341481"/>
            <a:ext cx="3343627" cy="604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2" name="Google Shape;1256;p41">
            <a:extLst>
              <a:ext uri="{FF2B5EF4-FFF2-40B4-BE49-F238E27FC236}">
                <a16:creationId xmlns:a16="http://schemas.microsoft.com/office/drawing/2014/main" id="{3E508041-B02D-483B-AC98-724B6C5D6880}"/>
              </a:ext>
            </a:extLst>
          </p:cNvPr>
          <p:cNvSpPr/>
          <p:nvPr/>
        </p:nvSpPr>
        <p:spPr>
          <a:xfrm>
            <a:off x="6710249" y="2495841"/>
            <a:ext cx="2376638" cy="83935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1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63" name="Прямоугольник 162">
            <a:extLst>
              <a:ext uri="{FF2B5EF4-FFF2-40B4-BE49-F238E27FC236}">
                <a16:creationId xmlns:a16="http://schemas.microsoft.com/office/drawing/2014/main" id="{213089AD-A44F-4424-9A1A-CB87A8332AEE}"/>
              </a:ext>
            </a:extLst>
          </p:cNvPr>
          <p:cNvSpPr/>
          <p:nvPr/>
        </p:nvSpPr>
        <p:spPr>
          <a:xfrm>
            <a:off x="6688638" y="2493495"/>
            <a:ext cx="237663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Таҳририй-ноширлик маркази </a:t>
            </a:r>
          </a:p>
        </p:txBody>
      </p:sp>
      <p:cxnSp>
        <p:nvCxnSpPr>
          <p:cNvPr id="165" name="Прямая соединительная линия 164">
            <a:extLst>
              <a:ext uri="{FF2B5EF4-FFF2-40B4-BE49-F238E27FC236}">
                <a16:creationId xmlns:a16="http://schemas.microsoft.com/office/drawing/2014/main" id="{81861E03-B75A-430F-AEDA-F1E9C44B0A2F}"/>
              </a:ext>
            </a:extLst>
          </p:cNvPr>
          <p:cNvCxnSpPr>
            <a:cxnSpLocks/>
          </p:cNvCxnSpPr>
          <p:nvPr/>
        </p:nvCxnSpPr>
        <p:spPr>
          <a:xfrm flipH="1">
            <a:off x="8592113" y="4923556"/>
            <a:ext cx="332937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6" name="Google Shape;1256;p41">
            <a:extLst>
              <a:ext uri="{FF2B5EF4-FFF2-40B4-BE49-F238E27FC236}">
                <a16:creationId xmlns:a16="http://schemas.microsoft.com/office/drawing/2014/main" id="{EB05C6AE-59CB-44DC-A01B-2A8F08892790}"/>
              </a:ext>
            </a:extLst>
          </p:cNvPr>
          <p:cNvSpPr/>
          <p:nvPr/>
        </p:nvSpPr>
        <p:spPr>
          <a:xfrm>
            <a:off x="6713147" y="4717353"/>
            <a:ext cx="2376638" cy="44736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1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67" name="Прямоугольник 166">
            <a:extLst>
              <a:ext uri="{FF2B5EF4-FFF2-40B4-BE49-F238E27FC236}">
                <a16:creationId xmlns:a16="http://schemas.microsoft.com/office/drawing/2014/main" id="{2F57DA0F-DBFF-4223-B8BA-48251D6245A9}"/>
              </a:ext>
            </a:extLst>
          </p:cNvPr>
          <p:cNvSpPr/>
          <p:nvPr/>
        </p:nvSpPr>
        <p:spPr>
          <a:xfrm>
            <a:off x="6662231" y="4757861"/>
            <a:ext cx="237663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Канцелярия</a:t>
            </a:r>
          </a:p>
        </p:txBody>
      </p:sp>
      <p:cxnSp>
        <p:nvCxnSpPr>
          <p:cNvPr id="169" name="Прямая соединительная линия 168">
            <a:extLst>
              <a:ext uri="{FF2B5EF4-FFF2-40B4-BE49-F238E27FC236}">
                <a16:creationId xmlns:a16="http://schemas.microsoft.com/office/drawing/2014/main" id="{1AD7F97D-8F47-42B8-B71A-E8B3EE76B45B}"/>
              </a:ext>
            </a:extLst>
          </p:cNvPr>
          <p:cNvCxnSpPr>
            <a:cxnSpLocks/>
          </p:cNvCxnSpPr>
          <p:nvPr/>
        </p:nvCxnSpPr>
        <p:spPr>
          <a:xfrm>
            <a:off x="9082265" y="2694381"/>
            <a:ext cx="283922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0" name="Google Shape;1256;p41">
            <a:extLst>
              <a:ext uri="{FF2B5EF4-FFF2-40B4-BE49-F238E27FC236}">
                <a16:creationId xmlns:a16="http://schemas.microsoft.com/office/drawing/2014/main" id="{302595B8-0A9C-4DB3-83A8-BA2B8CD6B69F}"/>
              </a:ext>
            </a:extLst>
          </p:cNvPr>
          <p:cNvSpPr/>
          <p:nvPr/>
        </p:nvSpPr>
        <p:spPr>
          <a:xfrm>
            <a:off x="6704926" y="3386611"/>
            <a:ext cx="2376638" cy="7162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1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71" name="Прямоугольник 170">
            <a:extLst>
              <a:ext uri="{FF2B5EF4-FFF2-40B4-BE49-F238E27FC236}">
                <a16:creationId xmlns:a16="http://schemas.microsoft.com/office/drawing/2014/main" id="{E5D43965-5D9E-49C9-9146-02E5F62D8CA4}"/>
              </a:ext>
            </a:extLst>
          </p:cNvPr>
          <p:cNvSpPr/>
          <p:nvPr/>
        </p:nvSpPr>
        <p:spPr>
          <a:xfrm>
            <a:off x="6720153" y="3348055"/>
            <a:ext cx="23766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Илмий-ишлаб чиқариш лабораторияси </a:t>
            </a:r>
          </a:p>
        </p:txBody>
      </p:sp>
      <p:cxnSp>
        <p:nvCxnSpPr>
          <p:cNvPr id="173" name="Прямая соединительная линия 172">
            <a:extLst>
              <a:ext uri="{FF2B5EF4-FFF2-40B4-BE49-F238E27FC236}">
                <a16:creationId xmlns:a16="http://schemas.microsoft.com/office/drawing/2014/main" id="{66B2A910-8217-4008-B078-CA6E1D1148BF}"/>
              </a:ext>
            </a:extLst>
          </p:cNvPr>
          <p:cNvCxnSpPr>
            <a:cxnSpLocks/>
          </p:cNvCxnSpPr>
          <p:nvPr/>
        </p:nvCxnSpPr>
        <p:spPr>
          <a:xfrm flipH="1" flipV="1">
            <a:off x="9081660" y="3638354"/>
            <a:ext cx="2839831" cy="1008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4" name="Google Shape;1256;p41">
            <a:extLst>
              <a:ext uri="{FF2B5EF4-FFF2-40B4-BE49-F238E27FC236}">
                <a16:creationId xmlns:a16="http://schemas.microsoft.com/office/drawing/2014/main" id="{7FD7AF3B-78F5-47B6-A9AF-F9052AA90CC8}"/>
              </a:ext>
            </a:extLst>
          </p:cNvPr>
          <p:cNvSpPr/>
          <p:nvPr/>
        </p:nvSpPr>
        <p:spPr>
          <a:xfrm>
            <a:off x="6703868" y="4138467"/>
            <a:ext cx="2376638" cy="50492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1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75" name="Прямоугольник 174">
            <a:extLst>
              <a:ext uri="{FF2B5EF4-FFF2-40B4-BE49-F238E27FC236}">
                <a16:creationId xmlns:a16="http://schemas.microsoft.com/office/drawing/2014/main" id="{FD95F3E1-AD4D-4DF1-B0D7-8FC109A2D520}"/>
              </a:ext>
            </a:extLst>
          </p:cNvPr>
          <p:cNvSpPr/>
          <p:nvPr/>
        </p:nvSpPr>
        <p:spPr>
          <a:xfrm>
            <a:off x="6654761" y="4101713"/>
            <a:ext cx="237663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Ахборот-ресурс маркази </a:t>
            </a:r>
          </a:p>
        </p:txBody>
      </p:sp>
      <p:sp>
        <p:nvSpPr>
          <p:cNvPr id="134" name="Прямоугольник 133">
            <a:extLst>
              <a:ext uri="{FF2B5EF4-FFF2-40B4-BE49-F238E27FC236}">
                <a16:creationId xmlns:a16="http://schemas.microsoft.com/office/drawing/2014/main" id="{3F6E4F39-0CE0-4A3C-B8BB-6F3D8E7562EC}"/>
              </a:ext>
            </a:extLst>
          </p:cNvPr>
          <p:cNvSpPr/>
          <p:nvPr/>
        </p:nvSpPr>
        <p:spPr>
          <a:xfrm>
            <a:off x="3303025" y="5874707"/>
            <a:ext cx="21847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z-Cyrl-UZ" sz="800" b="0" i="1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z-Cyrl-UZ" sz="800" b="0" i="1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CA79ED5-606B-415D-9E3B-7162A2DE3FB0}"/>
              </a:ext>
            </a:extLst>
          </p:cNvPr>
          <p:cNvSpPr/>
          <p:nvPr/>
        </p:nvSpPr>
        <p:spPr>
          <a:xfrm>
            <a:off x="3472275" y="637547"/>
            <a:ext cx="263578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Институт бошлиғи ўринбосари – </a:t>
            </a:r>
            <a:r>
              <a:rPr kumimoji="0" lang="uz-Cyrl-UZ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Жиноятчилик омилларини тадқиқ қилиш маркази </a:t>
            </a:r>
            <a:r>
              <a:rPr kumimoji="0" lang="uz-Cyrl-UZ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бошлиғи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33E485D-7C08-4C9D-8A6D-933646569E11}"/>
              </a:ext>
            </a:extLst>
          </p:cNvPr>
          <p:cNvSpPr/>
          <p:nvPr/>
        </p:nvSpPr>
        <p:spPr>
          <a:xfrm>
            <a:off x="289854" y="547713"/>
            <a:ext cx="2658982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Институт бошлиғи ўринбосари – </a:t>
            </a:r>
            <a:r>
              <a:rPr kumimoji="0" lang="uz-Cyrl-UZ" sz="10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Жиноятчилик тенденцияларини тадқиқ қилиш маркази </a:t>
            </a:r>
            <a:r>
              <a:rPr kumimoji="0" lang="uz-Cyrl-UZ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бошлиғи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05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0B1CFE5-F050-48D1-BC7E-F5159A2AC44E}"/>
              </a:ext>
            </a:extLst>
          </p:cNvPr>
          <p:cNvSpPr/>
          <p:nvPr/>
        </p:nvSpPr>
        <p:spPr>
          <a:xfrm>
            <a:off x="5395917" y="37961"/>
            <a:ext cx="16321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Институт бошлиғи</a:t>
            </a:r>
          </a:p>
        </p:txBody>
      </p:sp>
      <p:sp>
        <p:nvSpPr>
          <p:cNvPr id="192" name="Google Shape;1256;p41">
            <a:extLst>
              <a:ext uri="{FF2B5EF4-FFF2-40B4-BE49-F238E27FC236}">
                <a16:creationId xmlns:a16="http://schemas.microsoft.com/office/drawing/2014/main" id="{DB1D000E-F49C-4C48-93F6-AD852403DC48}"/>
              </a:ext>
            </a:extLst>
          </p:cNvPr>
          <p:cNvSpPr/>
          <p:nvPr/>
        </p:nvSpPr>
        <p:spPr>
          <a:xfrm>
            <a:off x="9317032" y="1088107"/>
            <a:ext cx="1280525" cy="7680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11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Илмий котиб </a:t>
            </a:r>
            <a:r>
              <a:rPr kumimoji="0" lang="uz-Cyrl-UZ" sz="1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- 1</a:t>
            </a:r>
            <a:endParaRPr kumimoji="0" lang="uz-Cyrl-UZ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uz-Cyrl-UZ" sz="11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8BDFF3A1-9BDB-4043-B6B6-9ADE775B20F7}"/>
              </a:ext>
            </a:extLst>
          </p:cNvPr>
          <p:cNvCxnSpPr>
            <a:cxnSpLocks/>
          </p:cNvCxnSpPr>
          <p:nvPr/>
        </p:nvCxnSpPr>
        <p:spPr>
          <a:xfrm>
            <a:off x="11331756" y="456303"/>
            <a:ext cx="0" cy="556420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9" name="Прямая соединительная линия 188">
            <a:extLst>
              <a:ext uri="{FF2B5EF4-FFF2-40B4-BE49-F238E27FC236}">
                <a16:creationId xmlns:a16="http://schemas.microsoft.com/office/drawing/2014/main" id="{1C8443E2-DA7F-4415-A295-F4BA6CF9F483}"/>
              </a:ext>
            </a:extLst>
          </p:cNvPr>
          <p:cNvCxnSpPr>
            <a:cxnSpLocks/>
          </p:cNvCxnSpPr>
          <p:nvPr/>
        </p:nvCxnSpPr>
        <p:spPr>
          <a:xfrm flipH="1">
            <a:off x="11774267" y="3996506"/>
            <a:ext cx="15075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4" name="Google Shape;1256;p41">
            <a:extLst>
              <a:ext uri="{FF2B5EF4-FFF2-40B4-BE49-F238E27FC236}">
                <a16:creationId xmlns:a16="http://schemas.microsoft.com/office/drawing/2014/main" id="{BA3FB18B-15DD-4772-90F5-BFE003517AC1}"/>
              </a:ext>
            </a:extLst>
          </p:cNvPr>
          <p:cNvSpPr/>
          <p:nvPr/>
        </p:nvSpPr>
        <p:spPr>
          <a:xfrm>
            <a:off x="9124928" y="56665"/>
            <a:ext cx="2669269" cy="296052"/>
          </a:xfrm>
          <a:prstGeom prst="rect">
            <a:avLst/>
          </a:prstGeom>
          <a:ln w="9525"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uz-Cyrl-UZ" sz="11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Таклиф этилаётган ҳолат</a:t>
            </a:r>
          </a:p>
        </p:txBody>
      </p:sp>
    </p:spTree>
    <p:extLst>
      <p:ext uri="{BB962C8B-B14F-4D97-AF65-F5344CB8AC3E}">
        <p14:creationId xmlns:p14="http://schemas.microsoft.com/office/powerpoint/2010/main" val="7875749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178</Words>
  <Application>Microsoft Office PowerPoint</Application>
  <PresentationFormat>Широкоэкранный</PresentationFormat>
  <Paragraphs>32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Пользователь</dc:creator>
  <cp:lastModifiedBy>Пользователь</cp:lastModifiedBy>
  <cp:revision>1</cp:revision>
  <dcterms:created xsi:type="dcterms:W3CDTF">2026-08-24T04:23:11Z</dcterms:created>
  <dcterms:modified xsi:type="dcterms:W3CDTF">2026-08-24T04:27:35Z</dcterms:modified>
</cp:coreProperties>
</file>